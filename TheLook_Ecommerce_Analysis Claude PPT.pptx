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Top 10 Customers by Lifetime Value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Spending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93506</c:v>
                  </c:pt>
                  <c:pt idx="1">
                    <c:v>77938</c:v>
                  </c:pt>
                  <c:pt idx="2">
                    <c:v>73</c:v>
                  </c:pt>
                  <c:pt idx="3">
                    <c:v>85980</c:v>
                  </c:pt>
                  <c:pt idx="4">
                    <c:v>66769</c:v>
                  </c:pt>
                  <c:pt idx="5">
                    <c:v>38049</c:v>
                  </c:pt>
                  <c:pt idx="6">
                    <c:v>52057</c:v>
                  </c:pt>
                  <c:pt idx="7">
                    <c:v>68612</c:v>
                  </c:pt>
                  <c:pt idx="8">
                    <c:v>26828</c:v>
                  </c:pt>
                  <c:pt idx="9">
                    <c:v>9708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1098.99</c:v>
                </c:pt>
                <c:pt idx="1">
                  <c:v>1102.02</c:v>
                </c:pt>
                <c:pt idx="2">
                  <c:v>1130.72</c:v>
                </c:pt>
                <c:pt idx="3">
                  <c:v>1136.48</c:v>
                </c:pt>
                <c:pt idx="4">
                  <c:v>1155.98</c:v>
                </c:pt>
                <c:pt idx="5">
                  <c:v>1210</c:v>
                </c:pt>
                <c:pt idx="6">
                  <c:v>1250.49</c:v>
                </c:pt>
                <c:pt idx="7">
                  <c:v>1266.99</c:v>
                </c:pt>
                <c:pt idx="8">
                  <c:v>1323.87</c:v>
                </c:pt>
                <c:pt idx="9">
                  <c:v>1474.62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Repeat vs. One-Time Customers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294B"/>
              </a:solidFill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One-Time Customer (87.8%)</c:v>
                </c:pt>
                <c:pt idx="1">
                  <c:v>Repeat Customer (12.2%)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24010</c:v>
                </c:pt>
                <c:pt idx="1">
                  <c:v>3327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
(21-25)</c:v>
                  </c:pt>
                  <c:pt idx="1">
                    <c:v>Teen
(12-20)</c:v>
                  </c:pt>
                  <c:pt idx="2">
                    <c:v>Senior
(60+)</c:v>
                  </c:pt>
                  <c:pt idx="3">
                    <c:v>Adult
(26-59)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923206.29</c:v>
                </c:pt>
                <c:pt idx="1">
                  <c:v>1650031.32</c:v>
                </c:pt>
                <c:pt idx="2">
                  <c:v>2016108.15</c:v>
                </c:pt>
                <c:pt idx="3">
                  <c:v>6169534.36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Revenue by Gender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5024738.59</c:v>
                </c:pt>
                <c:pt idx="1">
                  <c:v>5734141.53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Customers Acquired by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Organic</c:v>
                  </c:pt>
                  <c:pt idx="1">
                    <c:v>YouTube</c:v>
                  </c:pt>
                  <c:pt idx="2">
                    <c:v>Facebook</c:v>
                  </c:pt>
                  <c:pt idx="3">
                    <c:v>Adwords</c:v>
                  </c:pt>
                  <c:pt idx="4">
                    <c:v>Email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3488</c:v>
                </c:pt>
                <c:pt idx="1">
                  <c:v>6416</c:v>
                </c:pt>
                <c:pt idx="2">
                  <c:v>6453</c:v>
                </c:pt>
                <c:pt idx="3">
                  <c:v>15198</c:v>
                </c:pt>
                <c:pt idx="4">
                  <c:v>19536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Quarterly Revenue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Q1'19</c:v>
                  </c:pt>
                  <c:pt idx="1">
                    <c:v>Q2'19</c:v>
                  </c:pt>
                  <c:pt idx="2">
                    <c:v>Q3'19</c:v>
                  </c:pt>
                  <c:pt idx="3">
                    <c:v>Q4'19</c:v>
                  </c:pt>
                  <c:pt idx="4">
                    <c:v>Q1'20</c:v>
                  </c:pt>
                  <c:pt idx="5">
                    <c:v>Q2'20</c:v>
                  </c:pt>
                  <c:pt idx="6">
                    <c:v>Q3'20</c:v>
                  </c:pt>
                  <c:pt idx="7">
                    <c:v>Q4'20</c:v>
                  </c:pt>
                  <c:pt idx="8">
                    <c:v>Q1'21</c:v>
                  </c:pt>
                  <c:pt idx="9">
                    <c:v>Q2'21</c:v>
                  </c:pt>
                  <c:pt idx="10">
                    <c:v>Q3'21</c:v>
                  </c:pt>
                  <c:pt idx="11">
                    <c:v>Q4'21</c:v>
                  </c:pt>
                  <c:pt idx="12">
                    <c:v>Q1'22</c:v>
                  </c:pt>
                  <c:pt idx="13">
                    <c:v>Q2'22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6561.64</c:v>
                </c:pt>
                <c:pt idx="1">
                  <c:v>22158.37</c:v>
                </c:pt>
                <c:pt idx="2">
                  <c:v>40390.27</c:v>
                </c:pt>
                <c:pt idx="3">
                  <c:v>55374.32</c:v>
                </c:pt>
                <c:pt idx="4">
                  <c:v>75832.22</c:v>
                </c:pt>
                <c:pt idx="5">
                  <c:v>94114.58</c:v>
                </c:pt>
                <c:pt idx="6">
                  <c:v>114237.92</c:v>
                </c:pt>
                <c:pt idx="7">
                  <c:v>141042.71</c:v>
                </c:pt>
                <c:pt idx="8">
                  <c:v>177567.64</c:v>
                </c:pt>
                <c:pt idx="9">
                  <c:v>223290.23</c:v>
                </c:pt>
                <c:pt idx="10">
                  <c:v>290330.7</c:v>
                </c:pt>
                <c:pt idx="11">
                  <c:v>359360.39</c:v>
                </c:pt>
                <c:pt idx="12">
                  <c:v>465493.84</c:v>
                </c:pt>
                <c:pt idx="13">
                  <c:v>608336.25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F0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Category Revenue with Cumulative Contribution (Pareto 80/20)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Jeans</c:v>
                  </c:pt>
                  <c:pt idx="1">
                    <c:v>Outerwear</c:v>
                  </c:pt>
                  <c:pt idx="2">
                    <c:v>Sweaters</c:v>
                  </c:pt>
                  <c:pt idx="3">
                    <c:v>Hoodies</c:v>
                  </c:pt>
                  <c:pt idx="4">
                    <c:v>Suits &amp;
Sport Coats</c:v>
                  </c:pt>
                  <c:pt idx="5">
                    <c:v>Swim</c:v>
                  </c:pt>
                  <c:pt idx="6">
                    <c:v>Sleep &amp;
Lounge</c:v>
                  </c:pt>
                  <c:pt idx="7">
                    <c:v>Shorts</c:v>
                  </c:pt>
                  <c:pt idx="8">
                    <c:v>Tops &amp;
Tees</c:v>
                  </c:pt>
                  <c:pt idx="9">
                    <c:v>Intimates</c:v>
                  </c:pt>
                  <c:pt idx="10">
                    <c:v>Dresses</c:v>
                  </c:pt>
                  <c:pt idx="11">
                    <c:v>Active</c:v>
                  </c:pt>
                  <c:pt idx="12">
                    <c:v>Pants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313567.59</c:v>
                </c:pt>
                <c:pt idx="1">
                  <c:v>313382.48</c:v>
                </c:pt>
                <c:pt idx="2">
                  <c:v>217321.83</c:v>
                </c:pt>
                <c:pt idx="3">
                  <c:v>160780.26</c:v>
                </c:pt>
                <c:pt idx="4">
                  <c:v>160648.12</c:v>
                </c:pt>
                <c:pt idx="5">
                  <c:v>158681.4</c:v>
                </c:pt>
                <c:pt idx="6">
                  <c:v>138626.33</c:v>
                </c:pt>
                <c:pt idx="7">
                  <c:v>123248.56</c:v>
                </c:pt>
                <c:pt idx="8">
                  <c:v>122676.68</c:v>
                </c:pt>
                <c:pt idx="9">
                  <c:v>113947.59</c:v>
                </c:pt>
                <c:pt idx="10">
                  <c:v>111794.39</c:v>
                </c:pt>
                <c:pt idx="11">
                  <c:v>108311.25</c:v>
                </c:pt>
                <c:pt idx="12">
                  <c:v>102581.22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D98C1F"/>
            </a:solidFill>
            <a:ln w="28575" cap="flat">
              <a:solidFill>
                <a:srgbClr val="D98C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98C1F"/>
              </a:solidFill>
              <a:ln w="9525" cap="flat">
                <a:solidFill>
                  <a:srgbClr val="D98C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Jeans</c:v>
                  </c:pt>
                  <c:pt idx="1">
                    <c:v>Outerwear</c:v>
                  </c:pt>
                  <c:pt idx="2">
                    <c:v>Sweaters</c:v>
                  </c:pt>
                  <c:pt idx="3">
                    <c:v>Hoodies</c:v>
                  </c:pt>
                  <c:pt idx="4">
                    <c:v>Suits &amp;
Sport Coats</c:v>
                  </c:pt>
                  <c:pt idx="5">
                    <c:v>Swim</c:v>
                  </c:pt>
                  <c:pt idx="6">
                    <c:v>Sleep &amp;
Lounge</c:v>
                  </c:pt>
                  <c:pt idx="7">
                    <c:v>Shorts</c:v>
                  </c:pt>
                  <c:pt idx="8">
                    <c:v>Tops &amp;
Tees</c:v>
                  </c:pt>
                  <c:pt idx="9">
                    <c:v>Intimates</c:v>
                  </c:pt>
                  <c:pt idx="10">
                    <c:v>Dresses</c:v>
                  </c:pt>
                  <c:pt idx="11">
                    <c:v>Active</c:v>
                  </c:pt>
                  <c:pt idx="12">
                    <c:v>Pants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11.73</c:v>
                </c:pt>
                <c:pt idx="1">
                  <c:v>23.45</c:v>
                </c:pt>
                <c:pt idx="2">
                  <c:v>31.57</c:v>
                </c:pt>
                <c:pt idx="3">
                  <c:v>37.58</c:v>
                </c:pt>
                <c:pt idx="4">
                  <c:v>43.59</c:v>
                </c:pt>
                <c:pt idx="5">
                  <c:v>49.53</c:v>
                </c:pt>
                <c:pt idx="6">
                  <c:v>54.71</c:v>
                </c:pt>
                <c:pt idx="7">
                  <c:v>59.32</c:v>
                </c:pt>
                <c:pt idx="8">
                  <c:v>63.91</c:v>
                </c:pt>
                <c:pt idx="9">
                  <c:v>68.17</c:v>
                </c:pt>
                <c:pt idx="10">
                  <c:v>72.35</c:v>
                </c:pt>
                <c:pt idx="11">
                  <c:v>76.4</c:v>
                </c:pt>
                <c:pt idx="12">
                  <c:v>80.24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F0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1F3A"/>
                </a:solidFill>
                <a:latin typeface="Calibri"/>
              </a:rPr>
              <a:t>Top 5 Highest-Margin 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Blazers &amp;
Jackets</c:v>
                  </c:pt>
                  <c:pt idx="1">
                    <c:v>Skirts</c:v>
                  </c:pt>
                  <c:pt idx="2">
                    <c:v>Accessories</c:v>
                  </c:pt>
                  <c:pt idx="3">
                    <c:v>Socks &amp;
Hosiery</c:v>
                  </c:pt>
                  <c:pt idx="4">
                    <c:v>Suits &amp;
Sport Coats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62.1</c:v>
                </c:pt>
                <c:pt idx="1">
                  <c:v>60.05</c:v>
                </c:pt>
                <c:pt idx="2">
                  <c:v>59.97</c:v>
                </c:pt>
                <c:pt idx="3">
                  <c:v>59.81</c:v>
                </c:pt>
                <c:pt idx="4">
                  <c:v>59.81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1F3A"/>
                </a:solidFill>
                <a:latin typeface="Calibri"/>
              </a:rPr>
              <a:t>Bottom 5 Lowest-Margin 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Clothing
Sets</c:v>
                  </c:pt>
                  <c:pt idx="1">
                    <c:v>Suits</c:v>
                  </c:pt>
                  <c:pt idx="2">
                    <c:v>Socks</c:v>
                  </c:pt>
                  <c:pt idx="3">
                    <c:v>Leggings</c:v>
                  </c:pt>
                  <c:pt idx="4">
                    <c:v>Tops &amp;
Tees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39.21</c:v>
                </c:pt>
                <c:pt idx="1">
                  <c:v>39.59</c:v>
                </c:pt>
                <c:pt idx="2">
                  <c:v>39.77</c:v>
                </c:pt>
                <c:pt idx="3">
                  <c:v>39.99</c:v>
                </c:pt>
                <c:pt idx="4">
                  <c:v>44.07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1F3A"/>
                </a:solidFill>
                <a:latin typeface="Calibri"/>
              </a:rPr>
              <a:t>Average Order Value Stays in a Tight $58–$61 Band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($)</c:v>
                </c:pt>
              </c:strCache>
            </c:strRef>
          </c:tx>
          <c:spPr>
            <a:solidFill>
              <a:srgbClr val="D98C1F"/>
            </a:solidFill>
            <a:ln w="31750" cap="flat">
              <a:solidFill>
                <a:srgbClr val="D98C1F"/>
              </a:solidFill>
              <a:prstDash val="solid"/>
              <a:round/>
            </a:ln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C1F"/>
              </a:solidFill>
              <a:ln w="9525" cap="flat">
                <a:solidFill>
                  <a:srgbClr val="D98C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Q1'19</c:v>
                  </c:pt>
                  <c:pt idx="1">
                    <c:v>Q3'19</c:v>
                  </c:pt>
                  <c:pt idx="2">
                    <c:v>Q1'20</c:v>
                  </c:pt>
                  <c:pt idx="3">
                    <c:v>Q3'20</c:v>
                  </c:pt>
                  <c:pt idx="4">
                    <c:v>Q1'21</c:v>
                  </c:pt>
                  <c:pt idx="5">
                    <c:v>Q3'21</c:v>
                  </c:pt>
                  <c:pt idx="6">
                    <c:v>Q1'22</c:v>
                  </c:pt>
                  <c:pt idx="7">
                    <c:v>Q2'22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59.6</c:v>
                </c:pt>
                <c:pt idx="1">
                  <c:v>58.4</c:v>
                </c:pt>
                <c:pt idx="2">
                  <c:v>59.5</c:v>
                </c:pt>
                <c:pt idx="3">
                  <c:v>58</c:v>
                </c:pt>
                <c:pt idx="4">
                  <c:v>60.6</c:v>
                </c:pt>
                <c:pt idx="5">
                  <c:v>60.9</c:v>
                </c:pt>
                <c:pt idx="6">
                  <c:v>59.4</c:v>
                </c:pt>
                <c:pt idx="7">
                  <c:v>59.2</c:v>
                </c:pt>
              </c:numCache>
            </c:numRef>
          </c:val>
          <c:smooth val="0"/>
        </c:ser>
        <c:dLbls>
          <c:numFmt formatCode="$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50"/>
        </c:scaling>
        <c:delete val="0"/>
        <c:axPos val="l"/>
        <c:majorGridlines>
          <c:spPr>
            <a:ln w="9525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Conversion Rate by Traffic Source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Email</c:v>
                  </c:pt>
                  <c:pt idx="1">
                    <c:v>Adwords</c:v>
                  </c:pt>
                  <c:pt idx="2">
                    <c:v>YouTube</c:v>
                  </c:pt>
                  <c:pt idx="3">
                    <c:v>Facebook</c:v>
                  </c:pt>
                  <c:pt idx="4">
                    <c:v>Organic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37.4</c:v>
                </c:pt>
                <c:pt idx="1">
                  <c:v>38.39</c:v>
                </c:pt>
                <c:pt idx="2">
                  <c:v>40.24</c:v>
                </c:pt>
                <c:pt idx="3">
                  <c:v>40.43</c:v>
                </c:pt>
                <c:pt idx="4">
                  <c:v>41.17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Conversion Rate by Browser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D98C1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Chrome</c:v>
                  </c:pt>
                  <c:pt idx="1">
                    <c:v>Firefox</c:v>
                  </c:pt>
                  <c:pt idx="2">
                    <c:v>Safari</c:v>
                  </c:pt>
                  <c:pt idx="3">
                    <c:v>IE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36.73</c:v>
                </c:pt>
                <c:pt idx="1">
                  <c:v>39.14</c:v>
                </c:pt>
                <c:pt idx="2">
                  <c:v>39.82</c:v>
                </c:pt>
                <c:pt idx="3">
                  <c:v>40.92</c:v>
                </c:pt>
                <c:pt idx="4">
                  <c:v>41.86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-1920240" y="5760720"/>
            <a:ext cx="3291840" cy="32918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TheLook E-Commerce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FA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2.2 million rows of order, customer, and product data into a clear roadmap for revenue growth, retention, and operational efficiency — built entirely in SQL.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•  PostgreSQL  •  Window Functions  •  CTEs  •  Business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from raw data to business recommendations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4440" y="19842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34440" y="23134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objectives, and dataset at a glance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3504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12280" y="19842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12280" y="23134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2.2M rows of raw data for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34440" y="30358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34440" y="33649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value, retention, churn, demographics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063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0" y="3063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12280" y="30358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12280" y="33649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trends, Pareto analysis, profit margins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3444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Logistics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34440" y="44165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and return rates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114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035040" y="4114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81228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Web Analytics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12280" y="44165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sources, conversion, browser trends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166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57200" y="5166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234440" y="5138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234440" y="54681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synthesized for decision-makers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5166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035040" y="5166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812280" y="5138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812280" y="54681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recommendations for action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SQL analysis of TheLook's e-commerce operations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TheLook E-Commerce's transactional database to uncover patterns in customer behavior, sales performance, logistics, and marketing effectiveness. Using PostgreSQL, 40+ business questions were answered with CTEs, window functions, and aggregate queries — translating raw data into insights that support pricing, retention, and growth decisions.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77647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6758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customers and retention drivers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9709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40965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revenue growth and category profitability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45171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delivery and return-rate bottlenecks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3834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937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marketing channel efficiency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874520"/>
            <a:ext cx="4206240" cy="1005840"/>
          </a:xfrm>
          <a:prstGeom prst="roundRect">
            <a:avLst>
              <a:gd name="adj" fmla="val 8182"/>
            </a:avLst>
          </a:prstGeom>
          <a:solidFill>
            <a:srgbClr val="E9E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607808" y="1965960"/>
            <a:ext cx="3986784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607808" y="2498141"/>
            <a:ext cx="3986784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 analyzed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3044952"/>
            <a:ext cx="4206240" cy="1005840"/>
          </a:xfrm>
          <a:prstGeom prst="roundRect">
            <a:avLst>
              <a:gd name="adj" fmla="val 8182"/>
            </a:avLst>
          </a:prstGeom>
          <a:solidFill>
            <a:srgbClr val="E9EEF5"/>
          </a:solidFill>
          <a:ln/>
        </p:spPr>
      </p:sp>
      <p:sp>
        <p:nvSpPr>
          <p:cNvPr id="20" name="Text 18"/>
          <p:cNvSpPr/>
          <p:nvPr/>
        </p:nvSpPr>
        <p:spPr>
          <a:xfrm>
            <a:off x="7607808" y="3136392"/>
            <a:ext cx="3986784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07808" y="3668573"/>
            <a:ext cx="3986784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cleaned data rows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0" y="4215384"/>
            <a:ext cx="4206240" cy="1005840"/>
          </a:xfrm>
          <a:prstGeom prst="roundRect">
            <a:avLst>
              <a:gd name="adj" fmla="val 8182"/>
            </a:avLst>
          </a:prstGeom>
          <a:solidFill>
            <a:srgbClr val="E9EEF5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4306824"/>
            <a:ext cx="3986784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607808" y="4839005"/>
            <a:ext cx="3986784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0" y="5385816"/>
            <a:ext cx="4206240" cy="1005840"/>
          </a:xfrm>
          <a:prstGeom prst="roundRect">
            <a:avLst>
              <a:gd name="adj" fmla="val 8182"/>
            </a:avLst>
          </a:prstGeom>
          <a:solidFill>
            <a:srgbClr val="E9EEF5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5477256"/>
            <a:ext cx="3986784" cy="58338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yrs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607808" y="6009437"/>
            <a:ext cx="3986784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span: Jan 2019 – Jun 2022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362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 reliable, analysis-ready dataset before answering any business question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989320" cy="4023360"/>
          </a:xfrm>
          <a:prstGeom prst="roundRect">
            <a:avLst>
              <a:gd name="adj" fmla="val 1818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0B1F3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93976"/>
            <a:ext cx="100584" cy="100584"/>
          </a:xfrm>
          <a:prstGeom prst="ellipse">
            <a:avLst/>
          </a:prstGeom>
          <a:solidFill>
            <a:srgbClr val="E7695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93976"/>
            <a:ext cx="100584" cy="100584"/>
          </a:xfrm>
          <a:prstGeom prst="ellipse">
            <a:avLst/>
          </a:prstGeom>
          <a:solidFill>
            <a:srgbClr val="F2C037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093976"/>
            <a:ext cx="100584" cy="100584"/>
          </a:xfrm>
          <a:prstGeom prst="ellipse">
            <a:avLst/>
          </a:prstGeom>
          <a:solidFill>
            <a:srgbClr val="3FB27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31720"/>
            <a:ext cx="5586984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Row count validation across all 7 tables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distribution_centers) +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events) +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order_items) + ...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total_rows_in_database;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Fixing data types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order_items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sale_price = CAST(sale_price AS NUMERIC(12,4));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order_items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COLUMN created_at TYPE timestamp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LEFT(created_at,19)::timestamp;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Removing unused columns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users DROP COLUMN street_address;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users DROP COLUMN postal_code;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19659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1938528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totals confirmed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222199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million rows validated across all 7 tables post-cleanup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0840" y="2752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752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72491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investigated, not dropped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78040" y="300837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shipped_at, delivered_at, returned_at contain expected nulls from cancelled/pending orders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35387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3511296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corrected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78040" y="37947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cast to numeric(12,4); date strings converted to proper timestamps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432511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325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429768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checked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78040" y="458114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order_id values found in the orders table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20840" y="511149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5084064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columns removed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78040" y="536752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street_address &amp; postal_code dropped — not needed for analysis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Most Valuable Customers?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customers by lifetime value (LTV) to inform VIP and loyalty targeting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0B1F3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93976"/>
            <a:ext cx="100584" cy="100584"/>
          </a:xfrm>
          <a:prstGeom prst="ellipse">
            <a:avLst/>
          </a:prstGeom>
          <a:solidFill>
            <a:srgbClr val="E7695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93976"/>
            <a:ext cx="100584" cy="100584"/>
          </a:xfrm>
          <a:prstGeom prst="ellipse">
            <a:avLst/>
          </a:prstGeom>
          <a:solidFill>
            <a:srgbClr val="F2C037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093976"/>
            <a:ext cx="100584" cy="100584"/>
          </a:xfrm>
          <a:prstGeom prst="ellipse">
            <a:avLst/>
          </a:prstGeom>
          <a:solidFill>
            <a:srgbClr val="3FB27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31720"/>
            <a:ext cx="5175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user_id,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ROUND(SUM(sale_price)::numeric,2) AS total_spending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order_items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'Complete'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user_id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total_spending DESC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total spend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$1,474.62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$1,323.87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$1,266.99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$1,210.00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0" descr=""/>
          <p:cNvGraphicFramePr/>
          <p:nvPr/>
        </p:nvGraphicFramePr>
        <p:xfrm>
          <a:off x="6492240" y="1965960"/>
          <a:ext cx="5257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Is the Biggest Growth Lever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87.8% of customers buy only once — and month-over-month churn runs ~90-97%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0B1F3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93976"/>
            <a:ext cx="100584" cy="100584"/>
          </a:xfrm>
          <a:prstGeom prst="ellipse">
            <a:avLst/>
          </a:prstGeom>
          <a:solidFill>
            <a:srgbClr val="E7695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93976"/>
            <a:ext cx="100584" cy="100584"/>
          </a:xfrm>
          <a:prstGeom prst="ellipse">
            <a:avLst/>
          </a:prstGeom>
          <a:solidFill>
            <a:srgbClr val="F2C037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093976"/>
            <a:ext cx="100584" cy="100584"/>
          </a:xfrm>
          <a:prstGeom prst="ellipse">
            <a:avLst/>
          </a:prstGeom>
          <a:solidFill>
            <a:srgbClr val="3FB27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31720"/>
            <a:ext cx="508406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cte AS (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user_id, COUNT(user_id),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COUNT(user_id) &gt; 1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'Repeat Customer'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'One-Time Customer' END AS category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WHERE status = 'Complete'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user_id)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category, COUNT(user_id) AS user_count,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ROUND(COUNT(user_id)*100.0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SUM(COUNT(user_id)) OVER(),2) AS pct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cte GROUP BY category;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172200" y="1874520"/>
          <a:ext cx="5577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8920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9EEF5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4983480"/>
            <a:ext cx="2386584" cy="7159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66928" y="5657393"/>
            <a:ext cx="2386584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customer churn rate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48920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9EEF5"/>
          </a:solidFill>
          <a:ln/>
        </p:spPr>
      </p:sp>
      <p:sp>
        <p:nvSpPr>
          <p:cNvPr id="16" name="Text 13"/>
          <p:cNvSpPr/>
          <p:nvPr/>
        </p:nvSpPr>
        <p:spPr>
          <a:xfrm>
            <a:off x="3355848" y="4983480"/>
            <a:ext cx="2386584" cy="7159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189.8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55848" y="5657393"/>
            <a:ext cx="2386584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between repeat purchases (~6 months)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489204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9EEF5"/>
          </a:solidFill>
          <a:ln/>
        </p:spPr>
      </p:sp>
      <p:sp>
        <p:nvSpPr>
          <p:cNvPr id="19" name="Text 16"/>
          <p:cNvSpPr/>
          <p:nvPr/>
        </p:nvSpPr>
        <p:spPr>
          <a:xfrm>
            <a:off x="6144768" y="4983480"/>
            <a:ext cx="2386584" cy="7159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38,964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144768" y="5657393"/>
            <a:ext cx="2386584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customers dormant 180+ days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823960" y="4892040"/>
            <a:ext cx="2907792" cy="1234440"/>
          </a:xfrm>
          <a:prstGeom prst="roundRect">
            <a:avLst>
              <a:gd name="adj" fmla="val 6667"/>
            </a:avLst>
          </a:prstGeom>
          <a:solidFill>
            <a:srgbClr val="E9EEF5"/>
          </a:solidFill>
          <a:ln/>
        </p:spPr>
      </p:sp>
      <p:sp>
        <p:nvSpPr>
          <p:cNvPr id="22" name="Text 19"/>
          <p:cNvSpPr/>
          <p:nvPr/>
        </p:nvSpPr>
        <p:spPr>
          <a:xfrm>
            <a:off x="8933688" y="4983480"/>
            <a:ext cx="2688336" cy="7159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9,240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933688" y="5657393"/>
            <a:ext cx="2688336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above-average order value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the Most Revenue?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breakdown reveals where spending power is concentrated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440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172200" y="1965960"/>
          <a:ext cx="55778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172200" y="4160520"/>
            <a:ext cx="5577840" cy="1965960"/>
          </a:xfrm>
          <a:prstGeom prst="roundRect">
            <a:avLst>
              <a:gd name="adj" fmla="val 4651"/>
            </a:avLst>
          </a:prstGeom>
          <a:solidFill>
            <a:srgbClr val="E9EEF5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0" y="43159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0" y="4590288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Adult segment (26–59) generates over $6.1M — more than the other three age groups combined. Male shoppers slightly outspend female shoppers ($5.73M vs. $5.02M). Young Adults (21–25) are the smallest revenue segment, suggesting an untapped opportunity for targeted acquisition campaigns.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Channels &amp; Regional Retention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new customers come from, and where they stay loyal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577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by Customer Retention Rate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Roraima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Virginia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Dakota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Alaska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309360" y="4434840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E9EEF5"/>
          </a:solidFill>
          <a:ln/>
        </p:spPr>
      </p:sp>
      <p:sp>
        <p:nvSpPr>
          <p:cNvPr id="10" name="Text 6"/>
          <p:cNvSpPr/>
          <p:nvPr/>
        </p:nvSpPr>
        <p:spPr>
          <a:xfrm>
            <a:off x="6537960" y="45720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(19,536) and Adwords (15,198) drive the highest volume of acquired customers — together accounting for over 60% of all acquisitions across 228 states/regions. Retention varies widely by geography, ranging up to 56%, pointing to regional service or logistics factors worth investigating.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Has Scaled Nearly 100x Since Launch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growth from Q1 2019 through Q2 2022 (partial)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0B1F3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02536"/>
            <a:ext cx="100584" cy="100584"/>
          </a:xfrm>
          <a:prstGeom prst="ellipse">
            <a:avLst/>
          </a:prstGeom>
          <a:solidFill>
            <a:srgbClr val="E7695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02536"/>
            <a:ext cx="100584" cy="100584"/>
          </a:xfrm>
          <a:prstGeom prst="ellipse">
            <a:avLst/>
          </a:prstGeom>
          <a:solidFill>
            <a:srgbClr val="F2C037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002536"/>
            <a:ext cx="100584" cy="100584"/>
          </a:xfrm>
          <a:prstGeom prst="ellipse">
            <a:avLst/>
          </a:prstGeom>
          <a:solidFill>
            <a:srgbClr val="3FB27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240280"/>
            <a:ext cx="494690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cte AS (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DATE_TRUNC('month',created_at) AS m,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SUM(sale_price) AS revenue,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LAG(SUM(sale_price)) OVER (ORDER BY m)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prev_revenue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order_items WHERE status='Complete'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m)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 ROUND((revenue - prev_revenue)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100 / prev_revenue, 2) AS mom_growth_pct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cte;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2560320" cy="1691640"/>
          </a:xfrm>
          <a:prstGeom prst="roundRect">
            <a:avLst>
              <a:gd name="adj" fmla="val 4865"/>
            </a:avLst>
          </a:prstGeom>
          <a:solidFill>
            <a:srgbClr val="E9EEF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434840"/>
            <a:ext cx="2340864" cy="9811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$2.67M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6928" y="5392217"/>
            <a:ext cx="2340864" cy="608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cumulative revenue (Jan 2019–Jun 2022)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4343400"/>
            <a:ext cx="2560320" cy="1691640"/>
          </a:xfrm>
          <a:prstGeom prst="roundRect">
            <a:avLst>
              <a:gd name="adj" fmla="val 4865"/>
            </a:avLst>
          </a:prstGeom>
          <a:solidFill>
            <a:srgbClr val="E9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4434840"/>
            <a:ext cx="2340864" cy="98115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10128" y="5392217"/>
            <a:ext cx="2340864" cy="608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single-month growth (May 2022)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989320" y="19659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of 34 Categories Drive 80% of Revenue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Pareto pattern — concentrate inventory &amp; marketing on the vital few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20240"/>
          <a:ext cx="11247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9EEF5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349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Jeans and Outerwear &amp; Coats alone contribute nearly a quarter of total revenue. Prioritize inventory investment, promotions, and supplier negotiation on these 13 categories — while the remaining 21 categories (incl. Clothing Sets, Jumpsuits, Leggings) contribute just 20%.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Volume Doesn't Always Mean High Margin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 — formula: (Revenue − Cost) / Revenue × 100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09360" y="1965960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Jeans and Intimates are among the highest sales-volume categories (3,000+ orders each) yet sit in the bottom half for margin (~46–47%) — strong candidates for cost renegotiation or selective price optimization.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Driven by Volume, Not Basket Size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 has stayed flat while order counts climbed steadily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965960"/>
            <a:ext cx="4251960" cy="4114800"/>
          </a:xfrm>
          <a:prstGeom prst="roundRect">
            <a:avLst>
              <a:gd name="adj" fmla="val 2222"/>
            </a:avLst>
          </a:prstGeom>
          <a:solidFill>
            <a:srgbClr val="E9EEF5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94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80960" y="2660904"/>
            <a:ext cx="91440" cy="9144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10" name="Text 7"/>
          <p:cNvSpPr/>
          <p:nvPr/>
        </p:nvSpPr>
        <p:spPr>
          <a:xfrm>
            <a:off x="7882128" y="253288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has hovered near $58–$61 for 3.5 years — customers aren't buying bigger baskets over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502152"/>
            <a:ext cx="91440" cy="9144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12" name="Text 9"/>
          <p:cNvSpPr/>
          <p:nvPr/>
        </p:nvSpPr>
        <p:spPr>
          <a:xfrm>
            <a:off x="7882128" y="3374136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revenue growth (nearly 100x) has come from acquiring more orders, not increasing order size.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0" y="4343400"/>
            <a:ext cx="91440" cy="9144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14" name="Text 11"/>
          <p:cNvSpPr/>
          <p:nvPr/>
        </p:nvSpPr>
        <p:spPr>
          <a:xfrm>
            <a:off x="7882128" y="4215384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signals a major opportunity in cross-sell, bundling, and upsell strategies at checkout.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5184648"/>
            <a:ext cx="91440" cy="9144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16" name="Text 13"/>
          <p:cNvSpPr/>
          <p:nvPr/>
        </p:nvSpPr>
        <p:spPr>
          <a:xfrm>
            <a:off x="7882128" y="505663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modest 10% AOV lift, sustained across current order volume, would add hundreds of thousands in incremental annual revenue.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Delays &amp; Returns Are Concentrated by Region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analytics highlight where fulfillment needs attention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Average Delivery Time by State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Delivery (days)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Vorarlberg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Yamanashi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Kagawa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Yamaguchi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Product Return Rate by Category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309360" y="196596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E9EEF5"/>
          </a:solidFill>
          <a:ln/>
        </p:spPr>
      </p:sp>
      <p:sp>
        <p:nvSpPr>
          <p:cNvPr id="11" name="Text 7"/>
          <p:cNvSpPr/>
          <p:nvPr/>
        </p:nvSpPr>
        <p:spPr>
          <a:xfrm>
            <a:off x="6419088" y="2057400"/>
            <a:ext cx="5175504" cy="5568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27,254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419088" y="2561234"/>
            <a:ext cx="5175504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currently unsold in inventory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09360" y="306324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E9EEF5"/>
          </a:solidFill>
          <a:ln/>
        </p:spPr>
      </p:sp>
      <p:sp>
        <p:nvSpPr>
          <p:cNvPr id="14" name="Text 10"/>
          <p:cNvSpPr/>
          <p:nvPr/>
        </p:nvSpPr>
        <p:spPr>
          <a:xfrm>
            <a:off x="6419088" y="3154680"/>
            <a:ext cx="5175504" cy="5568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11,889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419088" y="3658514"/>
            <a:ext cx="5175504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returned at least one product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9360" y="416052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E9EEF5"/>
          </a:solidFill>
          <a:ln/>
        </p:spPr>
      </p:sp>
      <p:sp>
        <p:nvSpPr>
          <p:cNvPr id="17" name="Text 13"/>
          <p:cNvSpPr/>
          <p:nvPr/>
        </p:nvSpPr>
        <p:spPr>
          <a:xfrm>
            <a:off x="6419088" y="4251960"/>
            <a:ext cx="5175504" cy="5568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13,641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419088" y="4755794"/>
            <a:ext cx="5175504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whose orders consistently ship slower than average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309360" y="525780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E9EEF5"/>
          </a:solidFill>
          <a:ln/>
        </p:spPr>
      </p:sp>
      <p:sp>
        <p:nvSpPr>
          <p:cNvPr id="20" name="Text 16"/>
          <p:cNvSpPr/>
          <p:nvPr/>
        </p:nvSpPr>
        <p:spPr>
          <a:xfrm>
            <a:off x="6419088" y="5349240"/>
            <a:ext cx="5175504" cy="5568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32.5%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419088" y="5853074"/>
            <a:ext cx="5175504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regional return rate (China – remote territory)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197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Channels Bring Volume; Organic Converts Best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= converted users ÷ total site-event users × 100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09360" y="196596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429768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E9EEF5"/>
          </a:solidFill>
          <a:ln/>
        </p:spPr>
      </p:sp>
      <p:sp>
        <p:nvSpPr>
          <p:cNvPr id="9" name="Text 5"/>
          <p:cNvSpPr/>
          <p:nvPr/>
        </p:nvSpPr>
        <p:spPr>
          <a:xfrm>
            <a:off x="6537960" y="44348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Chrome carries the most traffic (55,550 sessions) but converts worst (36.7%). Organic search has the smallest audience but the best conversion (41.2%). Average time from first site visit to first purchase is 58.9 days — a long consideration window worth shortening with retargeting.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Synthesized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3294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beats acquisition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8072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87.8% one-time buyers and ~95% monthly churn, a small lift in repeat-purchase rate would outweigh most new-customer acquisition gains.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3294B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8288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28072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34 categories (Jeans, Outerwear, Sweaters lead) generate 80% of revenue — a clear signal for inventory and marketing prioritization.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3294B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18288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≠ volume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83880" y="28072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categories like Jeans and Intimates carry below-average margins; Blazers, Skirts, and Accessories are both profitable and underleveraged.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3294B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 is untapped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50017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has been flat at ~$58–$61 for 3.5 years — growth has come purely from order volume, leaving cross-sell/upsell largely unexplored.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3294B"/>
          </a:solidFill>
          <a:ln/>
        </p:spPr>
      </p:sp>
      <p:sp>
        <p:nvSpPr>
          <p:cNvPr id="25" name="Shape 23"/>
          <p:cNvSpPr/>
          <p:nvPr/>
        </p:nvSpPr>
        <p:spPr>
          <a:xfrm>
            <a:off x="4434840" y="4023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3484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gaps hurt loyalty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34840" y="50017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regions see 4+ day delivery times and return rates above 25–30%, both of which correlate with lower repeat purchase behavior.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794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3294B"/>
          </a:solidFill>
          <a:ln/>
        </p:spPr>
      </p:sp>
      <p:sp>
        <p:nvSpPr>
          <p:cNvPr id="30" name="Shape 28"/>
          <p:cNvSpPr/>
          <p:nvPr/>
        </p:nvSpPr>
        <p:spPr>
          <a:xfrm>
            <a:off x="8183880" y="4023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8388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is inefficient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83880" y="50017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Adwords drive the most volume but convert below average; Organic converts best but is the smallest channel by far.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98C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Prioritized Roadmap for Growth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analysis into action across three time horizons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E9EE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6596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31720"/>
            <a:ext cx="36118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299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71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529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win-back email flow for 38,964 dormant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85876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loyalty perk for 2nd purchase to cut one-time-buyer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9834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64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Chrome checkout UX — it converts 5pts below average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0248" y="19659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E9EE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270248" y="196596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D98C1F"/>
          </a:solidFill>
          <a:ln/>
        </p:spPr>
      </p:sp>
      <p:sp>
        <p:nvSpPr>
          <p:cNvPr id="19" name="Shape 17"/>
          <p:cNvSpPr/>
          <p:nvPr/>
        </p:nvSpPr>
        <p:spPr>
          <a:xfrm>
            <a:off x="4270248" y="2331720"/>
            <a:ext cx="3611880" cy="411480"/>
          </a:xfrm>
          <a:prstGeom prst="rect">
            <a:avLst/>
          </a:prstGeom>
          <a:solidFill>
            <a:srgbClr val="D98C1F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20299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Mid-Term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98848" y="2395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98848" y="2971800"/>
            <a:ext cx="91440" cy="9144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8529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ad budget from low-converting Email/Adwords toward Organic/SEO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98848" y="3977640"/>
            <a:ext cx="91440" cy="9144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85876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&amp; cross-sell top Pareto categories to lift AOV beyond $58–$61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98848" y="4983480"/>
            <a:ext cx="91440" cy="91440"/>
          </a:xfrm>
          <a:prstGeom prst="ellipse">
            <a:avLst/>
          </a:prstGeom>
          <a:solidFill>
            <a:srgbClr val="D98C1F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4864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supplier costs on high-volume, low-margin Jeans &amp; Intimates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83296" y="19659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E9EEF5"/>
          </a:solidFill>
          <a:ln/>
        </p:spPr>
      </p:sp>
      <p:sp>
        <p:nvSpPr>
          <p:cNvPr id="29" name="Shape 27"/>
          <p:cNvSpPr/>
          <p:nvPr/>
        </p:nvSpPr>
        <p:spPr>
          <a:xfrm>
            <a:off x="8083296" y="196596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C0392B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3296" y="2331720"/>
            <a:ext cx="361188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8311896" y="20299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11896" y="2395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11896" y="297180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28529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distribution center logistics in slowest-delivery regions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11896" y="397764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8522208" y="385876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formal retention program targeting the 189-day repurchase gap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11896" y="498348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8522208" y="486460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27,254 unsold SKUs via liquidation to free up working capital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5743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754880" cy="4754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9966960" y="10972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SQL analysis of TheLook E-Commerce turns 2.2 million rows of raw data into a concrete plan to reduce churn, grow average order value, and sharpen marketing spend — the foundation for measurable revenue growth.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Data Analysis  |  SQL Portfolio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2026-08-08T15:29:49Z</dcterms:created>
  <dcterms:modified xsi:type="dcterms:W3CDTF">2026-08-08T15:29:49Z</dcterms:modified>
</cp:coreProperties>
</file>